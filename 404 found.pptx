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D53"/>
    <a:srgbClr val="01143E"/>
    <a:srgbClr val="051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FE3B0-4D70-4D24-929A-36B8577D3B31}" v="843" dt="2026-08-28T14:03:39.457"/>
    <p1510:client id="{CBA9C0B7-AF59-41AE-B74F-4046AAB2C8A5}" v="642" dt="2026-08-28T11:01:14.3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51D5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5314" y="3126181"/>
            <a:ext cx="4288474" cy="505903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275316" y="3126180"/>
            <a:ext cx="4286250" cy="5064760"/>
          </a:xfrm>
          <a:custGeom>
            <a:avLst/>
            <a:gdLst/>
            <a:ahLst/>
            <a:cxnLst/>
            <a:rect l="l" t="t" r="r" b="b"/>
            <a:pathLst>
              <a:path w="4286250" h="5064759">
                <a:moveTo>
                  <a:pt x="4286201" y="4812646"/>
                </a:moveTo>
                <a:lnTo>
                  <a:pt x="4271059" y="4884447"/>
                </a:lnTo>
                <a:lnTo>
                  <a:pt x="4250751" y="4927566"/>
                </a:lnTo>
                <a:lnTo>
                  <a:pt x="4223487" y="4966140"/>
                </a:lnTo>
                <a:lnTo>
                  <a:pt x="4190198" y="4999434"/>
                </a:lnTo>
                <a:lnTo>
                  <a:pt x="4151533" y="5026570"/>
                </a:lnTo>
                <a:lnTo>
                  <a:pt x="4108503" y="5047001"/>
                </a:lnTo>
                <a:lnTo>
                  <a:pt x="4061773" y="5059831"/>
                </a:lnTo>
                <a:lnTo>
                  <a:pt x="4012238" y="5064394"/>
                </a:lnTo>
                <a:lnTo>
                  <a:pt x="276210" y="5064404"/>
                </a:lnTo>
                <a:lnTo>
                  <a:pt x="226538" y="5059947"/>
                </a:lnTo>
                <a:lnTo>
                  <a:pt x="179792" y="5047102"/>
                </a:lnTo>
                <a:lnTo>
                  <a:pt x="136751" y="5026651"/>
                </a:lnTo>
                <a:lnTo>
                  <a:pt x="98199" y="4999379"/>
                </a:lnTo>
                <a:lnTo>
                  <a:pt x="64913" y="4966067"/>
                </a:lnTo>
                <a:lnTo>
                  <a:pt x="37673" y="4927498"/>
                </a:lnTo>
                <a:lnTo>
                  <a:pt x="17258" y="4884455"/>
                </a:lnTo>
                <a:lnTo>
                  <a:pt x="4445" y="4837717"/>
                </a:lnTo>
                <a:lnTo>
                  <a:pt x="4" y="4788065"/>
                </a:lnTo>
                <a:lnTo>
                  <a:pt x="0" y="276258"/>
                </a:lnTo>
                <a:lnTo>
                  <a:pt x="4441" y="226605"/>
                </a:lnTo>
                <a:lnTo>
                  <a:pt x="17265" y="179868"/>
                </a:lnTo>
                <a:lnTo>
                  <a:pt x="37692" y="136829"/>
                </a:lnTo>
                <a:lnTo>
                  <a:pt x="64942" y="98270"/>
                </a:lnTo>
                <a:lnTo>
                  <a:pt x="98235" y="64972"/>
                </a:lnTo>
                <a:lnTo>
                  <a:pt x="136791" y="37715"/>
                </a:lnTo>
                <a:lnTo>
                  <a:pt x="179828" y="17281"/>
                </a:lnTo>
                <a:lnTo>
                  <a:pt x="226566" y="4450"/>
                </a:lnTo>
                <a:lnTo>
                  <a:pt x="276221" y="0"/>
                </a:lnTo>
                <a:lnTo>
                  <a:pt x="4012125" y="0"/>
                </a:lnTo>
                <a:lnTo>
                  <a:pt x="4061792" y="4423"/>
                </a:lnTo>
                <a:lnTo>
                  <a:pt x="4108541" y="17242"/>
                </a:lnTo>
                <a:lnTo>
                  <a:pt x="4151592" y="37669"/>
                </a:lnTo>
                <a:lnTo>
                  <a:pt x="4190164" y="64924"/>
                </a:lnTo>
                <a:lnTo>
                  <a:pt x="4223473" y="98226"/>
                </a:lnTo>
                <a:lnTo>
                  <a:pt x="4250737" y="136794"/>
                </a:lnTo>
                <a:lnTo>
                  <a:pt x="4271173" y="179846"/>
                </a:lnTo>
                <a:lnTo>
                  <a:pt x="4284002" y="226598"/>
                </a:lnTo>
                <a:lnTo>
                  <a:pt x="4286142" y="251734"/>
                </a:lnTo>
              </a:path>
            </a:pathLst>
          </a:custGeom>
          <a:ln w="2285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98561" y="8016575"/>
            <a:ext cx="2189454" cy="227041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430237"/>
            <a:ext cx="2021781" cy="482915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7070749" y="2039252"/>
            <a:ext cx="3597275" cy="404495"/>
          </a:xfrm>
          <a:custGeom>
            <a:avLst/>
            <a:gdLst/>
            <a:ahLst/>
            <a:cxnLst/>
            <a:rect l="l" t="t" r="r" b="b"/>
            <a:pathLst>
              <a:path w="3597275" h="404494">
                <a:moveTo>
                  <a:pt x="3578869" y="404500"/>
                </a:moveTo>
                <a:lnTo>
                  <a:pt x="24269" y="404500"/>
                </a:lnTo>
                <a:lnTo>
                  <a:pt x="14822" y="402593"/>
                </a:lnTo>
                <a:lnTo>
                  <a:pt x="7108" y="397392"/>
                </a:lnTo>
                <a:lnTo>
                  <a:pt x="1907" y="389677"/>
                </a:lnTo>
                <a:lnTo>
                  <a:pt x="0" y="380231"/>
                </a:lnTo>
                <a:lnTo>
                  <a:pt x="0" y="24269"/>
                </a:lnTo>
                <a:lnTo>
                  <a:pt x="1907" y="14823"/>
                </a:lnTo>
                <a:lnTo>
                  <a:pt x="7108" y="7108"/>
                </a:lnTo>
                <a:lnTo>
                  <a:pt x="14822" y="1907"/>
                </a:lnTo>
                <a:lnTo>
                  <a:pt x="24269" y="0"/>
                </a:lnTo>
                <a:lnTo>
                  <a:pt x="3578869" y="0"/>
                </a:lnTo>
                <a:lnTo>
                  <a:pt x="3585041" y="2556"/>
                </a:lnTo>
                <a:lnTo>
                  <a:pt x="3594147" y="11660"/>
                </a:lnTo>
                <a:lnTo>
                  <a:pt x="3596700" y="17833"/>
                </a:lnTo>
                <a:lnTo>
                  <a:pt x="3596700" y="386668"/>
                </a:lnTo>
                <a:lnTo>
                  <a:pt x="3594147" y="392841"/>
                </a:lnTo>
                <a:lnTo>
                  <a:pt x="3585041" y="401944"/>
                </a:lnTo>
                <a:lnTo>
                  <a:pt x="3578869" y="40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9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51D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2507" y="840429"/>
            <a:ext cx="11210925" cy="169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18865" y="3272842"/>
            <a:ext cx="9893300" cy="4361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0.png"/><Relationship Id="rId7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0.png"/><Relationship Id="rId7" Type="http://schemas.openxmlformats.org/officeDocument/2006/relationships/image" Target="../media/image2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10.png"/><Relationship Id="rId10" Type="http://schemas.openxmlformats.org/officeDocument/2006/relationships/image" Target="../media/image25.sv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6.png"/><Relationship Id="rId10" Type="http://schemas.openxmlformats.org/officeDocument/2006/relationships/image" Target="../media/image7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63820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00" y="8515212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6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0334" y="1869856"/>
              <a:ext cx="2807659" cy="84171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48996" y="262804"/>
              <a:ext cx="5929426" cy="197390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3564569"/>
            <a:ext cx="10173335" cy="4093845"/>
          </a:xfrm>
          <a:prstGeom prst="rect">
            <a:avLst/>
          </a:prstGeom>
        </p:spPr>
        <p:txBody>
          <a:bodyPr vert="horz" wrap="square" lIns="0" tIns="324485" rIns="0" bIns="0" rtlCol="0">
            <a:spAutoFit/>
          </a:bodyPr>
          <a:lstStyle/>
          <a:p>
            <a:pPr marL="12700" marR="5080">
              <a:lnSpc>
                <a:spcPts val="12380"/>
              </a:lnSpc>
              <a:spcBef>
                <a:spcPts val="2555"/>
              </a:spcBef>
            </a:pPr>
            <a:r>
              <a:rPr sz="12350" spc="580" dirty="0"/>
              <a:t>ALERO</a:t>
            </a:r>
            <a:r>
              <a:rPr sz="12350" spc="80" dirty="0"/>
              <a:t>P</a:t>
            </a:r>
            <a:r>
              <a:rPr sz="12350" spc="195" dirty="0"/>
              <a:t>A</a:t>
            </a:r>
            <a:r>
              <a:rPr sz="12350" spc="580" dirty="0"/>
              <a:t>T</a:t>
            </a:r>
            <a:r>
              <a:rPr sz="12350" spc="585" dirty="0"/>
              <a:t>H</a:t>
            </a:r>
            <a:r>
              <a:rPr sz="12350" spc="480" dirty="0"/>
              <a:t> </a:t>
            </a:r>
            <a:r>
              <a:rPr sz="12350" spc="545" dirty="0"/>
              <a:t>CONNECT</a:t>
            </a:r>
            <a:endParaRPr sz="12350"/>
          </a:p>
          <a:p>
            <a:pPr marL="322580">
              <a:lnSpc>
                <a:spcPct val="100000"/>
              </a:lnSpc>
              <a:spcBef>
                <a:spcPts val="320"/>
              </a:spcBef>
            </a:pPr>
            <a:r>
              <a:rPr sz="3750" spc="105" dirty="0"/>
              <a:t>The</a:t>
            </a:r>
            <a:r>
              <a:rPr sz="3750" spc="-35" dirty="0"/>
              <a:t> </a:t>
            </a:r>
            <a:r>
              <a:rPr sz="3750" spc="145" dirty="0"/>
              <a:t>Community</a:t>
            </a:r>
            <a:r>
              <a:rPr sz="3750" spc="-30" dirty="0"/>
              <a:t> </a:t>
            </a:r>
            <a:r>
              <a:rPr sz="3750" spc="140" dirty="0"/>
              <a:t>Engine</a:t>
            </a:r>
            <a:endParaRPr sz="3750"/>
          </a:p>
        </p:txBody>
      </p:sp>
      <p:sp>
        <p:nvSpPr>
          <p:cNvPr id="8" name="object 8"/>
          <p:cNvSpPr txBox="1"/>
          <p:nvPr/>
        </p:nvSpPr>
        <p:spPr>
          <a:xfrm>
            <a:off x="13372422" y="8648356"/>
            <a:ext cx="3653336" cy="102528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2635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Verdana"/>
                <a:cs typeface="Verdana"/>
              </a:rPr>
              <a:t>Presented</a:t>
            </a:r>
            <a:r>
              <a:rPr sz="22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ts val="2635"/>
              </a:lnSpc>
              <a:spcBef>
                <a:spcPts val="95"/>
              </a:spcBef>
            </a:pPr>
            <a:r>
              <a:rPr lang="en-US" sz="2200" spc="-25">
                <a:solidFill>
                  <a:srgbClr val="FFFFFF"/>
                </a:solidFill>
                <a:latin typeface="Verdana"/>
                <a:ea typeface="Verdana"/>
                <a:cs typeface="Tahoma"/>
              </a:rPr>
              <a:t>Team-404 found</a:t>
            </a:r>
            <a:endParaRPr sz="2200" spc="-25" dirty="0">
              <a:solidFill>
                <a:srgbClr val="FFFFFF"/>
              </a:solidFill>
              <a:latin typeface="Verdana"/>
              <a:ea typeface="Verdana"/>
              <a:cs typeface="Tahoma"/>
            </a:endParaRPr>
          </a:p>
          <a:p>
            <a:pPr marL="12700">
              <a:lnSpc>
                <a:spcPts val="2635"/>
              </a:lnSpc>
            </a:pPr>
            <a:endParaRPr lang="en-US" sz="22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0354" y="217447"/>
            <a:ext cx="2019268" cy="20192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7376" y="7781314"/>
            <a:ext cx="6388735" cy="0"/>
          </a:xfrm>
          <a:custGeom>
            <a:avLst/>
            <a:gdLst/>
            <a:ahLst/>
            <a:cxnLst/>
            <a:rect l="l" t="t" r="r" b="b"/>
            <a:pathLst>
              <a:path w="6388734">
                <a:moveTo>
                  <a:pt x="0" y="0"/>
                </a:moveTo>
                <a:lnTo>
                  <a:pt x="6388541" y="0"/>
                </a:lnTo>
              </a:path>
            </a:pathLst>
          </a:custGeom>
          <a:ln w="19050">
            <a:solidFill>
              <a:srgbClr val="051D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6329" y="6478615"/>
            <a:ext cx="3781470" cy="380838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04578" y="187286"/>
            <a:ext cx="11210925" cy="1694171"/>
          </a:xfrm>
          <a:prstGeom prst="rect">
            <a:avLst/>
          </a:prstGeom>
        </p:spPr>
        <p:txBody>
          <a:bodyPr vert="horz" wrap="square" lIns="0" tIns="136205" rIns="0" bIns="0" rtlCol="0">
            <a:spAutoFit/>
          </a:bodyPr>
          <a:lstStyle/>
          <a:p>
            <a:pPr marL="3355340">
              <a:lnSpc>
                <a:spcPct val="100000"/>
              </a:lnSpc>
              <a:spcBef>
                <a:spcPts val="95"/>
              </a:spcBef>
            </a:pPr>
            <a:r>
              <a:rPr spc="210" dirty="0"/>
              <a:t>The</a:t>
            </a:r>
            <a:r>
              <a:rPr spc="-65" dirty="0"/>
              <a:t> </a:t>
            </a:r>
            <a:r>
              <a:rPr spc="240" dirty="0"/>
              <a:t>Problem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4110075" y="5982156"/>
            <a:ext cx="4178300" cy="4305300"/>
            <a:chOff x="14110075" y="5982156"/>
            <a:chExt cx="4178300" cy="43053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10075" y="5982156"/>
              <a:ext cx="4177923" cy="43048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455056" y="9453966"/>
              <a:ext cx="833119" cy="833119"/>
            </a:xfrm>
            <a:custGeom>
              <a:avLst/>
              <a:gdLst/>
              <a:ahLst/>
              <a:cxnLst/>
              <a:rect l="l" t="t" r="r" b="b"/>
              <a:pathLst>
                <a:path w="833119" h="833120">
                  <a:moveTo>
                    <a:pt x="806635" y="806635"/>
                  </a:moveTo>
                  <a:lnTo>
                    <a:pt x="777434" y="833033"/>
                  </a:lnTo>
                  <a:lnTo>
                    <a:pt x="167597" y="833033"/>
                  </a:lnTo>
                  <a:lnTo>
                    <a:pt x="138394" y="806638"/>
                  </a:lnTo>
                  <a:lnTo>
                    <a:pt x="105958" y="770751"/>
                  </a:lnTo>
                  <a:lnTo>
                    <a:pt x="77846" y="732513"/>
                  </a:lnTo>
                  <a:lnTo>
                    <a:pt x="54060" y="692260"/>
                  </a:lnTo>
                  <a:lnTo>
                    <a:pt x="34598" y="650326"/>
                  </a:lnTo>
                  <a:lnTo>
                    <a:pt x="19461" y="607050"/>
                  </a:lnTo>
                  <a:lnTo>
                    <a:pt x="8649" y="562765"/>
                  </a:lnTo>
                  <a:lnTo>
                    <a:pt x="2162" y="517808"/>
                  </a:lnTo>
                  <a:lnTo>
                    <a:pt x="0" y="472516"/>
                  </a:lnTo>
                  <a:lnTo>
                    <a:pt x="2162" y="427223"/>
                  </a:lnTo>
                  <a:lnTo>
                    <a:pt x="8649" y="382267"/>
                  </a:lnTo>
                  <a:lnTo>
                    <a:pt x="19461" y="337982"/>
                  </a:lnTo>
                  <a:lnTo>
                    <a:pt x="34598" y="294705"/>
                  </a:lnTo>
                  <a:lnTo>
                    <a:pt x="54060" y="252772"/>
                  </a:lnTo>
                  <a:lnTo>
                    <a:pt x="77846" y="212518"/>
                  </a:lnTo>
                  <a:lnTo>
                    <a:pt x="105958" y="174280"/>
                  </a:lnTo>
                  <a:lnTo>
                    <a:pt x="138391" y="138391"/>
                  </a:lnTo>
                  <a:lnTo>
                    <a:pt x="174280" y="105958"/>
                  </a:lnTo>
                  <a:lnTo>
                    <a:pt x="212518" y="77846"/>
                  </a:lnTo>
                  <a:lnTo>
                    <a:pt x="252772" y="54060"/>
                  </a:lnTo>
                  <a:lnTo>
                    <a:pt x="294705" y="34598"/>
                  </a:lnTo>
                  <a:lnTo>
                    <a:pt x="337982" y="19461"/>
                  </a:lnTo>
                  <a:lnTo>
                    <a:pt x="382267" y="8649"/>
                  </a:lnTo>
                  <a:lnTo>
                    <a:pt x="427223" y="2162"/>
                  </a:lnTo>
                  <a:lnTo>
                    <a:pt x="472516" y="0"/>
                  </a:lnTo>
                  <a:lnTo>
                    <a:pt x="517808" y="2162"/>
                  </a:lnTo>
                  <a:lnTo>
                    <a:pt x="562765" y="8649"/>
                  </a:lnTo>
                  <a:lnTo>
                    <a:pt x="607050" y="19461"/>
                  </a:lnTo>
                  <a:lnTo>
                    <a:pt x="650326" y="34598"/>
                  </a:lnTo>
                  <a:lnTo>
                    <a:pt x="692260" y="54060"/>
                  </a:lnTo>
                  <a:lnTo>
                    <a:pt x="732513" y="77846"/>
                  </a:lnTo>
                  <a:lnTo>
                    <a:pt x="770751" y="105958"/>
                  </a:lnTo>
                  <a:lnTo>
                    <a:pt x="806638" y="138394"/>
                  </a:lnTo>
                  <a:lnTo>
                    <a:pt x="832942" y="167497"/>
                  </a:lnTo>
                  <a:lnTo>
                    <a:pt x="832942" y="777535"/>
                  </a:lnTo>
                  <a:lnTo>
                    <a:pt x="806635" y="806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6B8C97-42AC-9FD0-5ED6-C0E565634755}"/>
              </a:ext>
            </a:extLst>
          </p:cNvPr>
          <p:cNvSpPr/>
          <p:nvPr/>
        </p:nvSpPr>
        <p:spPr>
          <a:xfrm>
            <a:off x="207455" y="2515050"/>
            <a:ext cx="3785733" cy="3335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Missed Opportunities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Students can miss relevant events, projects, resources, and opportunities.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79613A-2740-8AF6-981F-D220107478B0}"/>
              </a:ext>
            </a:extLst>
          </p:cNvPr>
          <p:cNvSpPr/>
          <p:nvPr/>
        </p:nvSpPr>
        <p:spPr>
          <a:xfrm>
            <a:off x="3774999" y="6861913"/>
            <a:ext cx="10054914" cy="12919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“There is no single connected experience that brings people, opportunities, activities, and collaboration together.”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174FE5-9620-DE24-1A0A-F8D0DEE3C467}"/>
              </a:ext>
            </a:extLst>
          </p:cNvPr>
          <p:cNvSpPr/>
          <p:nvPr/>
        </p:nvSpPr>
        <p:spPr>
          <a:xfrm>
            <a:off x="4812112" y="2515049"/>
            <a:ext cx="3785733" cy="3335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Hard to Find the Right People</a:t>
            </a:r>
            <a:endParaRPr lang="en-US" b="1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Students struggle to connect with people who have similar interests, skills, and goals.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AF0FCD-2C93-6D0B-0713-3DF30614CFC5}"/>
              </a:ext>
            </a:extLst>
          </p:cNvPr>
          <p:cNvSpPr/>
          <p:nvPr/>
        </p:nvSpPr>
        <p:spPr>
          <a:xfrm>
            <a:off x="9416768" y="2515049"/>
            <a:ext cx="3785733" cy="3335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Collaboration is Fragmented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Finding projects, teammates, ideas, and meaningful work is difficult.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EFD518-5B0A-00D8-0C34-D3C001FB5EEA}"/>
              </a:ext>
            </a:extLst>
          </p:cNvPr>
          <p:cNvSpPr/>
          <p:nvPr/>
        </p:nvSpPr>
        <p:spPr>
          <a:xfrm>
            <a:off x="13825483" y="2515050"/>
            <a:ext cx="3785733" cy="3335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ea typeface="+mn-lt"/>
                <a:cs typeface="+mn-lt"/>
              </a:rPr>
              <a:t>Limited Organizer Tools</a:t>
            </a:r>
            <a:endParaRPr lang="en-US"/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dirty="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ea typeface="+mn-lt"/>
                <a:cs typeface="+mn-lt"/>
              </a:rPr>
              <a:t>Organizers need better ways to engage members, </a:t>
            </a:r>
            <a:r>
              <a:rPr lang="en-US" sz="2400">
                <a:solidFill>
                  <a:schemeClr val="tx1"/>
                </a:solidFill>
                <a:ea typeface="+mn-lt"/>
                <a:cs typeface="+mn-lt"/>
              </a:rPr>
              <a:t>share opportunities and organize activities.</a:t>
            </a:r>
            <a:endParaRPr lang="en-US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45899" y="7257562"/>
            <a:ext cx="3942099" cy="30294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76998"/>
            <a:ext cx="3283323" cy="32100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692407" y="187286"/>
            <a:ext cx="11210925" cy="1694171"/>
          </a:xfrm>
          <a:prstGeom prst="rect">
            <a:avLst/>
          </a:prstGeom>
        </p:spPr>
        <p:txBody>
          <a:bodyPr vert="horz" wrap="square" lIns="0" tIns="136205" rIns="0" bIns="0" rtlCol="0">
            <a:spAutoFit/>
          </a:bodyPr>
          <a:lstStyle/>
          <a:p>
            <a:pPr marL="3223895">
              <a:lnSpc>
                <a:spcPct val="100000"/>
              </a:lnSpc>
              <a:spcBef>
                <a:spcPts val="95"/>
              </a:spcBef>
            </a:pPr>
            <a:r>
              <a:rPr spc="250" dirty="0"/>
              <a:t>Our</a:t>
            </a:r>
            <a:r>
              <a:rPr spc="-70" dirty="0"/>
              <a:t> </a:t>
            </a:r>
            <a:r>
              <a:rPr spc="165" dirty="0"/>
              <a:t>Vision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2555C1C-52E0-68AD-1D15-FA528E78228B}"/>
              </a:ext>
            </a:extLst>
          </p:cNvPr>
          <p:cNvSpPr/>
          <p:nvPr/>
        </p:nvSpPr>
        <p:spPr>
          <a:xfrm>
            <a:off x="961" y="2719921"/>
            <a:ext cx="3969614" cy="4116636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DISCOVER</a:t>
            </a:r>
            <a:endParaRPr lang="en-US" sz="2400" b="1" dirty="0">
              <a:ea typeface="Calibri"/>
              <a:cs typeface="Calibri"/>
            </a:endParaRPr>
          </a:p>
          <a:p>
            <a:pPr algn="ctr"/>
            <a:endParaRPr lang="en-US" sz="2400" i="1" dirty="0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Find what matters</a:t>
            </a:r>
            <a:br>
              <a:rPr lang="en-US" sz="2400" i="1" dirty="0">
                <a:ea typeface="+mn-lt"/>
                <a:cs typeface="+mn-lt"/>
              </a:rPr>
            </a:b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>
                <a:ea typeface="+mn-lt"/>
                <a:cs typeface="+mn-lt"/>
              </a:rPr>
              <a:t>Opportunities</a:t>
            </a:r>
            <a:endParaRPr lang="en-US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 Events 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Projects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    Resources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3B2776-046E-AFDF-91CD-117BE1ABE532}"/>
              </a:ext>
            </a:extLst>
          </p:cNvPr>
          <p:cNvSpPr/>
          <p:nvPr/>
        </p:nvSpPr>
        <p:spPr>
          <a:xfrm>
            <a:off x="3741363" y="7612634"/>
            <a:ext cx="10340052" cy="118461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ea typeface="+mn-lt"/>
                <a:cs typeface="+mn-lt"/>
              </a:rPr>
              <a:t>One connected ecosystem for people, opportunities, and meaningful collaboration.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325F36-ABC0-9BA2-99D6-0A07BC80F7C7}"/>
              </a:ext>
            </a:extLst>
          </p:cNvPr>
          <p:cNvSpPr/>
          <p:nvPr/>
        </p:nvSpPr>
        <p:spPr>
          <a:xfrm>
            <a:off x="4752575" y="2719920"/>
            <a:ext cx="3969614" cy="4116636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ea typeface="Calibri"/>
                <a:cs typeface="Calibri"/>
              </a:rPr>
              <a:t>CONNECT</a:t>
            </a:r>
            <a:endParaRPr lang="en-US" sz="2400" b="1" dirty="0">
              <a:ea typeface="Calibri"/>
              <a:cs typeface="Calibri"/>
            </a:endParaRPr>
          </a:p>
          <a:p>
            <a:pPr algn="ctr"/>
            <a:endParaRPr lang="en-US" sz="2400" i="1" dirty="0">
              <a:ea typeface="+mn-lt"/>
              <a:cs typeface="+mn-lt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Meet the right people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Skills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 dirty="0">
                <a:ea typeface="Calibri"/>
                <a:cs typeface="Calibri"/>
              </a:rPr>
              <a:t>Intere</a:t>
            </a:r>
            <a:r>
              <a:rPr lang="en-US" sz="2400" i="1">
                <a:ea typeface="Calibri"/>
                <a:cs typeface="Calibri"/>
              </a:rPr>
              <a:t>st</a:t>
            </a:r>
          </a:p>
          <a:p>
            <a:pPr algn="ctr"/>
            <a:r>
              <a:rPr lang="en-US" sz="2400" i="1">
                <a:ea typeface="Calibri"/>
                <a:cs typeface="Calibri"/>
              </a:rPr>
              <a:t>Goals</a:t>
            </a:r>
            <a:endParaRPr lang="en-US" sz="2400" i="1" dirty="0">
              <a:ea typeface="Calibri"/>
              <a:cs typeface="Calibri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582FC2-7BFB-51F6-A77C-2DBA78D4F0E9}"/>
              </a:ext>
            </a:extLst>
          </p:cNvPr>
          <p:cNvSpPr/>
          <p:nvPr/>
        </p:nvSpPr>
        <p:spPr>
          <a:xfrm>
            <a:off x="9455203" y="2719920"/>
            <a:ext cx="3969614" cy="4116636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ea typeface="+mn-lt"/>
                <a:cs typeface="+mn-lt"/>
              </a:rPr>
              <a:t>COLLABORATE</a:t>
            </a:r>
            <a:endParaRPr lang="en-US" b="1">
              <a:ea typeface="Calibri"/>
              <a:cs typeface="Calibri"/>
            </a:endParaRPr>
          </a:p>
          <a:p>
            <a:pPr algn="ctr"/>
            <a:endParaRPr lang="en-US" sz="2400" i="1" dirty="0">
              <a:ea typeface="Calibri"/>
              <a:cs typeface="Calibri"/>
            </a:endParaRPr>
          </a:p>
          <a:p>
            <a:pPr algn="ctr"/>
            <a:r>
              <a:rPr lang="en-US" sz="2400" i="1">
                <a:ea typeface="Calibri"/>
                <a:cs typeface="Calibri"/>
              </a:rPr>
              <a:t>Build together</a:t>
            </a:r>
            <a:endParaRPr lang="en-US">
              <a:ea typeface="Calibri"/>
              <a:cs typeface="Calibri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endParaRPr lang="en-US" i="1" dirty="0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Teams </a:t>
            </a:r>
          </a:p>
          <a:p>
            <a:pPr algn="ctr"/>
            <a:r>
              <a:rPr lang="en-US" sz="2400" i="1">
                <a:ea typeface="+mn-lt"/>
                <a:cs typeface="+mn-lt"/>
              </a:rPr>
              <a:t> Ideas </a:t>
            </a:r>
          </a:p>
          <a:p>
            <a:pPr algn="ctr"/>
            <a:r>
              <a:rPr lang="en-US" sz="2400" i="1">
                <a:ea typeface="+mn-lt"/>
                <a:cs typeface="+mn-lt"/>
              </a:rPr>
              <a:t>Projects</a:t>
            </a:r>
            <a:endParaRPr lang="en-US" sz="2400" i="1">
              <a:ea typeface="Calibri"/>
              <a:cs typeface="Calib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16051E-6447-11EC-001F-11F79D930E3E}"/>
              </a:ext>
            </a:extLst>
          </p:cNvPr>
          <p:cNvSpPr/>
          <p:nvPr/>
        </p:nvSpPr>
        <p:spPr>
          <a:xfrm>
            <a:off x="14157832" y="2719920"/>
            <a:ext cx="3969614" cy="4116636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ea typeface="+mn-lt"/>
                <a:cs typeface="+mn-lt"/>
              </a:rPr>
              <a:t>GROW</a:t>
            </a:r>
            <a:endParaRPr lang="en-US" sz="2400" b="1">
              <a:ea typeface="Calibri"/>
              <a:cs typeface="Calibri"/>
            </a:endParaRPr>
          </a:p>
          <a:p>
            <a:pPr algn="ctr"/>
            <a:endParaRPr lang="en-US" sz="2400" i="1" dirty="0">
              <a:ea typeface="+mn-lt"/>
              <a:cs typeface="+mn-lt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Grow together</a:t>
            </a:r>
            <a:endParaRPr lang="en-US" sz="2400" i="1">
              <a:ea typeface="+mn-lt"/>
              <a:cs typeface="+mn-lt"/>
            </a:endParaRPr>
          </a:p>
          <a:p>
            <a:pPr algn="ctr"/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Learn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Participate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2400" i="1">
                <a:ea typeface="+mn-lt"/>
                <a:cs typeface="+mn-lt"/>
              </a:rPr>
              <a:t>     Contribute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070EE77-849B-02A7-1B9F-DEEDD1A83A8E}"/>
              </a:ext>
            </a:extLst>
          </p:cNvPr>
          <p:cNvSpPr/>
          <p:nvPr/>
        </p:nvSpPr>
        <p:spPr>
          <a:xfrm>
            <a:off x="3969875" y="4288075"/>
            <a:ext cx="784121" cy="9801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01B13FD-79C9-C43A-ABE8-DF9A82FB2BA7}"/>
              </a:ext>
            </a:extLst>
          </p:cNvPr>
          <p:cNvSpPr/>
          <p:nvPr/>
        </p:nvSpPr>
        <p:spPr>
          <a:xfrm>
            <a:off x="8723327" y="4255550"/>
            <a:ext cx="735113" cy="8821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102F18C-EF92-B67A-40BD-836EAD220BEC}"/>
              </a:ext>
            </a:extLst>
          </p:cNvPr>
          <p:cNvSpPr/>
          <p:nvPr/>
        </p:nvSpPr>
        <p:spPr>
          <a:xfrm>
            <a:off x="13425956" y="4255550"/>
            <a:ext cx="735113" cy="8821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4764417" y="1370902"/>
            <a:ext cx="6993890" cy="518795"/>
          </a:xfrm>
          <a:custGeom>
            <a:avLst/>
            <a:gdLst/>
            <a:ahLst/>
            <a:cxnLst/>
            <a:rect l="l" t="t" r="r" b="b"/>
            <a:pathLst>
              <a:path w="6993890" h="518794">
                <a:moveTo>
                  <a:pt x="6962180" y="518518"/>
                </a:moveTo>
                <a:lnTo>
                  <a:pt x="31110" y="518518"/>
                </a:lnTo>
                <a:lnTo>
                  <a:pt x="19000" y="516073"/>
                </a:lnTo>
                <a:lnTo>
                  <a:pt x="9111" y="509406"/>
                </a:lnTo>
                <a:lnTo>
                  <a:pt x="2444" y="499517"/>
                </a:lnTo>
                <a:lnTo>
                  <a:pt x="0" y="487407"/>
                </a:lnTo>
                <a:lnTo>
                  <a:pt x="0" y="31111"/>
                </a:lnTo>
                <a:lnTo>
                  <a:pt x="2444" y="19001"/>
                </a:lnTo>
                <a:lnTo>
                  <a:pt x="9111" y="9112"/>
                </a:lnTo>
                <a:lnTo>
                  <a:pt x="19000" y="2444"/>
                </a:lnTo>
                <a:lnTo>
                  <a:pt x="31110" y="0"/>
                </a:lnTo>
                <a:lnTo>
                  <a:pt x="6962180" y="0"/>
                </a:lnTo>
                <a:lnTo>
                  <a:pt x="6974286" y="2444"/>
                </a:lnTo>
                <a:lnTo>
                  <a:pt x="6984175" y="9112"/>
                </a:lnTo>
                <a:lnTo>
                  <a:pt x="6990843" y="19001"/>
                </a:lnTo>
                <a:lnTo>
                  <a:pt x="6993289" y="31111"/>
                </a:lnTo>
                <a:lnTo>
                  <a:pt x="6993289" y="487407"/>
                </a:lnTo>
                <a:lnTo>
                  <a:pt x="6990843" y="499517"/>
                </a:lnTo>
                <a:lnTo>
                  <a:pt x="6984175" y="509406"/>
                </a:lnTo>
                <a:lnTo>
                  <a:pt x="6974286" y="516073"/>
                </a:lnTo>
                <a:lnTo>
                  <a:pt x="6962180" y="5185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659750" y="187286"/>
            <a:ext cx="11210925" cy="1694171"/>
          </a:xfrm>
          <a:prstGeom prst="rect">
            <a:avLst/>
          </a:prstGeom>
        </p:spPr>
        <p:txBody>
          <a:bodyPr vert="horz" wrap="square" lIns="0" tIns="135755" rIns="0" bIns="0" rtlCol="0">
            <a:spAutoFit/>
          </a:bodyPr>
          <a:lstStyle/>
          <a:p>
            <a:pPr marL="2637790">
              <a:lnSpc>
                <a:spcPct val="100000"/>
              </a:lnSpc>
              <a:spcBef>
                <a:spcPts val="740"/>
              </a:spcBef>
            </a:pPr>
            <a:r>
              <a:rPr spc="210" dirty="0"/>
              <a:t>The</a:t>
            </a:r>
            <a:r>
              <a:rPr spc="-65" dirty="0"/>
              <a:t> </a:t>
            </a:r>
            <a:r>
              <a:rPr spc="130" dirty="0"/>
              <a:t>Solution</a:t>
            </a:r>
          </a:p>
          <a:p>
            <a:pPr marL="2265045">
              <a:lnSpc>
                <a:spcPct val="100000"/>
              </a:lnSpc>
              <a:spcBef>
                <a:spcPts val="254"/>
              </a:spcBef>
            </a:pPr>
            <a:r>
              <a:rPr sz="2500" spc="204" dirty="0">
                <a:solidFill>
                  <a:srgbClr val="051D53"/>
                </a:solidFill>
              </a:rPr>
              <a:t>A</a:t>
            </a:r>
            <a:r>
              <a:rPr sz="2500" spc="-5" dirty="0">
                <a:solidFill>
                  <a:srgbClr val="051D53"/>
                </a:solidFill>
              </a:rPr>
              <a:t> </a:t>
            </a:r>
            <a:r>
              <a:rPr sz="2500" spc="100" dirty="0">
                <a:solidFill>
                  <a:srgbClr val="051D53"/>
                </a:solidFill>
              </a:rPr>
              <a:t>Unified</a:t>
            </a:r>
            <a:r>
              <a:rPr sz="2500" spc="-5" dirty="0">
                <a:solidFill>
                  <a:srgbClr val="051D53"/>
                </a:solidFill>
              </a:rPr>
              <a:t> </a:t>
            </a:r>
            <a:r>
              <a:rPr sz="2500" spc="60" dirty="0">
                <a:solidFill>
                  <a:srgbClr val="051D53"/>
                </a:solidFill>
              </a:rPr>
              <a:t>Digital</a:t>
            </a:r>
            <a:r>
              <a:rPr sz="2500" dirty="0">
                <a:solidFill>
                  <a:srgbClr val="051D53"/>
                </a:solidFill>
              </a:rPr>
              <a:t> </a:t>
            </a:r>
            <a:r>
              <a:rPr sz="2500" spc="110" dirty="0">
                <a:solidFill>
                  <a:srgbClr val="051D53"/>
                </a:solidFill>
              </a:rPr>
              <a:t>Community</a:t>
            </a:r>
            <a:r>
              <a:rPr sz="2500" dirty="0">
                <a:solidFill>
                  <a:srgbClr val="051D53"/>
                </a:solidFill>
              </a:rPr>
              <a:t> </a:t>
            </a:r>
            <a:r>
              <a:rPr sz="2500" spc="75" dirty="0">
                <a:solidFill>
                  <a:srgbClr val="051D53"/>
                </a:solidFill>
              </a:rPr>
              <a:t>Ecosystem</a:t>
            </a:r>
            <a:endParaRPr sz="25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A8DA93D3-DC33-ACA1-41CF-382D7A0E9CCE}"/>
              </a:ext>
            </a:extLst>
          </p:cNvPr>
          <p:cNvSpPr/>
          <p:nvPr/>
        </p:nvSpPr>
        <p:spPr>
          <a:xfrm>
            <a:off x="6101704" y="3275005"/>
            <a:ext cx="5594623" cy="5292533"/>
          </a:xfrm>
          <a:prstGeom prst="ellipse">
            <a:avLst/>
          </a:prstGeom>
          <a:solidFill>
            <a:srgbClr val="051D5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4000" b="1" dirty="0">
              <a:ea typeface="Calibri"/>
              <a:cs typeface="Calibri"/>
            </a:endParaRPr>
          </a:p>
          <a:p>
            <a:pPr algn="ctr"/>
            <a:endParaRPr lang="en-US" sz="4000" b="1" dirty="0">
              <a:ea typeface="Calibri"/>
              <a:cs typeface="Calibri"/>
            </a:endParaRPr>
          </a:p>
          <a:p>
            <a:pPr algn="ctr"/>
            <a:endParaRPr lang="en-US" sz="4000" b="1" dirty="0">
              <a:ea typeface="Calibri"/>
              <a:cs typeface="Calibri"/>
            </a:endParaRPr>
          </a:p>
          <a:p>
            <a:pPr algn="ctr"/>
            <a:r>
              <a:rPr lang="en-US" sz="4000" b="1">
                <a:solidFill>
                  <a:schemeClr val="bg1"/>
                </a:solidFill>
                <a:ea typeface="Calibri"/>
                <a:cs typeface="Calibri"/>
              </a:rPr>
              <a:t>CONNECTOR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4000" b="1">
                <a:solidFill>
                  <a:schemeClr val="bg1"/>
                </a:solidFill>
                <a:ea typeface="Calibri"/>
                <a:cs typeface="Calibri"/>
              </a:rPr>
              <a:t>ONE CONNECTED ECOSYSTEM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D819A0-1AD9-F627-7B91-0E80AE4A1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528" y="3273198"/>
            <a:ext cx="2820760" cy="24179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6" name="Arrow: Left 25">
            <a:extLst>
              <a:ext uri="{FF2B5EF4-FFF2-40B4-BE49-F238E27FC236}">
                <a16:creationId xmlns:a16="http://schemas.microsoft.com/office/drawing/2014/main" id="{19D3FF43-26F2-0D63-8346-B19091B761B8}"/>
              </a:ext>
            </a:extLst>
          </p:cNvPr>
          <p:cNvSpPr/>
          <p:nvPr/>
        </p:nvSpPr>
        <p:spPr>
          <a:xfrm rot="720000">
            <a:off x="11459708" y="6762347"/>
            <a:ext cx="1347774" cy="88231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4A57997E-2CC7-2941-7B01-FD1013644E7B}"/>
              </a:ext>
            </a:extLst>
          </p:cNvPr>
          <p:cNvSpPr/>
          <p:nvPr/>
        </p:nvSpPr>
        <p:spPr>
          <a:xfrm rot="20220000">
            <a:off x="11410723" y="3904847"/>
            <a:ext cx="1347774" cy="88231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163530E2-CA1E-AEA6-50AA-CBBF88018FB6}"/>
              </a:ext>
            </a:extLst>
          </p:cNvPr>
          <p:cNvSpPr/>
          <p:nvPr/>
        </p:nvSpPr>
        <p:spPr>
          <a:xfrm rot="8820000">
            <a:off x="5107894" y="6974618"/>
            <a:ext cx="1347774" cy="88231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357C8D0D-D4C0-0640-5422-765B8E0F5326}"/>
              </a:ext>
            </a:extLst>
          </p:cNvPr>
          <p:cNvSpPr/>
          <p:nvPr/>
        </p:nvSpPr>
        <p:spPr>
          <a:xfrm rot="12000000">
            <a:off x="5091565" y="3921175"/>
            <a:ext cx="1347774" cy="88231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E2448-1CEB-2B48-390C-6B25776E5275}"/>
              </a:ext>
            </a:extLst>
          </p:cNvPr>
          <p:cNvSpPr/>
          <p:nvPr/>
        </p:nvSpPr>
        <p:spPr>
          <a:xfrm>
            <a:off x="13338259" y="6638646"/>
            <a:ext cx="4606712" cy="3209996"/>
          </a:xfrm>
          <a:prstGeom prst="rect">
            <a:avLst/>
          </a:prstGeom>
          <a:solidFill>
            <a:srgbClr val="051D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249A38-8227-0ADC-80AB-0956AF4032D3}"/>
              </a:ext>
            </a:extLst>
          </p:cNvPr>
          <p:cNvSpPr/>
          <p:nvPr/>
        </p:nvSpPr>
        <p:spPr>
          <a:xfrm>
            <a:off x="210087" y="6638646"/>
            <a:ext cx="4606712" cy="3209996"/>
          </a:xfrm>
          <a:prstGeom prst="rect">
            <a:avLst/>
          </a:prstGeom>
          <a:solidFill>
            <a:srgbClr val="051D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22C3A731-0BF3-616E-3C21-C83D8074A1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85571" y="6106886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9BDDF07-FF03-50E4-FEE6-852F5343C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7157" y="6188528"/>
            <a:ext cx="914400" cy="9144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F9F5051-1F5C-55E1-08BA-496DC6DF1767}"/>
              </a:ext>
            </a:extLst>
          </p:cNvPr>
          <p:cNvSpPr/>
          <p:nvPr/>
        </p:nvSpPr>
        <p:spPr>
          <a:xfrm>
            <a:off x="210087" y="2115631"/>
            <a:ext cx="4606712" cy="3209996"/>
          </a:xfrm>
          <a:prstGeom prst="rect">
            <a:avLst/>
          </a:prstGeom>
          <a:solidFill>
            <a:srgbClr val="051D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ABA1DF8-622F-323E-E790-5F5FA28E5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47156" y="1436913"/>
            <a:ext cx="914400" cy="9144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748C498-FB37-809C-234B-E1E73A086DE2}"/>
              </a:ext>
            </a:extLst>
          </p:cNvPr>
          <p:cNvSpPr/>
          <p:nvPr/>
        </p:nvSpPr>
        <p:spPr>
          <a:xfrm>
            <a:off x="13338258" y="2115631"/>
            <a:ext cx="4606712" cy="3209996"/>
          </a:xfrm>
          <a:prstGeom prst="rect">
            <a:avLst/>
          </a:prstGeom>
          <a:solidFill>
            <a:srgbClr val="051D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3CDDC3F-3AFA-38D7-A46C-2CF235124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85571" y="1632857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6BBB92C-1736-D78F-3366-B18588396F0E}"/>
              </a:ext>
            </a:extLst>
          </p:cNvPr>
          <p:cNvSpPr txBox="1"/>
          <p:nvPr/>
        </p:nvSpPr>
        <p:spPr>
          <a:xfrm>
            <a:off x="1715289" y="2359620"/>
            <a:ext cx="22873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bg1"/>
                </a:solidFill>
              </a:rPr>
              <a:t>DISCOVER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C21330-59B4-5156-75F8-01481442116D}"/>
              </a:ext>
            </a:extLst>
          </p:cNvPr>
          <p:cNvSpPr txBox="1"/>
          <p:nvPr/>
        </p:nvSpPr>
        <p:spPr>
          <a:xfrm>
            <a:off x="14957761" y="2539234"/>
            <a:ext cx="22873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bg1"/>
                </a:solidFill>
              </a:rPr>
              <a:t>CONNECT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C5F1ED-B80F-3336-AA32-45A814C0C6AF}"/>
              </a:ext>
            </a:extLst>
          </p:cNvPr>
          <p:cNvSpPr txBox="1"/>
          <p:nvPr/>
        </p:nvSpPr>
        <p:spPr>
          <a:xfrm>
            <a:off x="1519347" y="7013263"/>
            <a:ext cx="22873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bg1"/>
                </a:solidFill>
              </a:rPr>
              <a:t>GROWTH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46C61D-F5F9-A1F4-3F8A-2FB3B93A48FA}"/>
              </a:ext>
            </a:extLst>
          </p:cNvPr>
          <p:cNvSpPr txBox="1"/>
          <p:nvPr/>
        </p:nvSpPr>
        <p:spPr>
          <a:xfrm>
            <a:off x="14337275" y="6866306"/>
            <a:ext cx="31527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bg1"/>
                </a:solidFill>
              </a:rPr>
              <a:t>COLLABORATE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EEF5FA-D9EF-5D7B-5F27-757839797BC8}"/>
              </a:ext>
            </a:extLst>
          </p:cNvPr>
          <p:cNvSpPr txBox="1"/>
          <p:nvPr/>
        </p:nvSpPr>
        <p:spPr>
          <a:xfrm>
            <a:off x="312909" y="3266742"/>
            <a:ext cx="46795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Discover  events , </a:t>
            </a:r>
            <a:r>
              <a:rPr lang="en-US" sz="2400">
                <a:solidFill>
                  <a:schemeClr val="bg1"/>
                </a:solidFill>
              </a:rPr>
              <a:t>projects,  opportunities , resource</a:t>
            </a:r>
            <a:r>
              <a:rPr lang="en-US" sz="2400" dirty="0">
                <a:solidFill>
                  <a:schemeClr val="bg1"/>
                </a:solidFill>
              </a:rPr>
              <a:t> and people in one place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0A9AB9-D037-77B8-C419-EB1BB07516A4}"/>
              </a:ext>
            </a:extLst>
          </p:cNvPr>
          <p:cNvSpPr txBox="1"/>
          <p:nvPr/>
        </p:nvSpPr>
        <p:spPr>
          <a:xfrm>
            <a:off x="13343108" y="3446356"/>
            <a:ext cx="467956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Connect with people based on skills, interests, goals and project need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943A3F-5B40-4A7A-45C6-53AB0C9CED1E}"/>
              </a:ext>
            </a:extLst>
          </p:cNvPr>
          <p:cNvSpPr txBox="1"/>
          <p:nvPr/>
        </p:nvSpPr>
        <p:spPr>
          <a:xfrm>
            <a:off x="84309" y="7773427"/>
            <a:ext cx="467956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Learn, participate, contribute, grow your network and achieve your goals.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36447E-65DC-A035-2077-1347ED0EFC53}"/>
              </a:ext>
            </a:extLst>
          </p:cNvPr>
          <p:cNvSpPr txBox="1"/>
          <p:nvPr/>
        </p:nvSpPr>
        <p:spPr>
          <a:xfrm>
            <a:off x="13343108" y="7789756"/>
            <a:ext cx="46795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Work on projects, find teammates, share ideas, communicate and build amazing things together.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6505" y="7817540"/>
            <a:ext cx="3331494" cy="24694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87556"/>
            <a:ext cx="3968246" cy="669944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774050" y="187286"/>
            <a:ext cx="11210925" cy="1694171"/>
          </a:xfrm>
          <a:prstGeom prst="rect">
            <a:avLst/>
          </a:prstGeom>
        </p:spPr>
        <p:txBody>
          <a:bodyPr vert="horz" wrap="square" lIns="0" tIns="252306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95"/>
              </a:spcBef>
            </a:pPr>
            <a:r>
              <a:rPr spc="225" dirty="0"/>
              <a:t>How</a:t>
            </a:r>
            <a:r>
              <a:rPr spc="-75" dirty="0"/>
              <a:t> </a:t>
            </a:r>
            <a:r>
              <a:rPr spc="-505" dirty="0"/>
              <a:t>It</a:t>
            </a:r>
            <a:r>
              <a:rPr spc="-70" dirty="0"/>
              <a:t> </a:t>
            </a:r>
            <a:r>
              <a:rPr spc="175" dirty="0"/>
              <a:t>Works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FEF4F8-D24C-FDE6-5D34-DF9CC61C7E8C}"/>
              </a:ext>
            </a:extLst>
          </p:cNvPr>
          <p:cNvSpPr/>
          <p:nvPr/>
        </p:nvSpPr>
        <p:spPr>
          <a:xfrm>
            <a:off x="4075455" y="2703701"/>
            <a:ext cx="988655" cy="980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44BEA16-7A93-9DA1-4E2C-37E1AD950EBE}"/>
              </a:ext>
            </a:extLst>
          </p:cNvPr>
          <p:cNvSpPr/>
          <p:nvPr/>
        </p:nvSpPr>
        <p:spPr>
          <a:xfrm>
            <a:off x="7112567" y="2671044"/>
            <a:ext cx="988655" cy="980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C02ED8-7D62-0E94-4921-1EFBDF068476}"/>
              </a:ext>
            </a:extLst>
          </p:cNvPr>
          <p:cNvSpPr/>
          <p:nvPr/>
        </p:nvSpPr>
        <p:spPr>
          <a:xfrm>
            <a:off x="9823111" y="2671043"/>
            <a:ext cx="988655" cy="980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96F615-01CA-605B-0CD9-F7DC92F4845A}"/>
              </a:ext>
            </a:extLst>
          </p:cNvPr>
          <p:cNvSpPr/>
          <p:nvPr/>
        </p:nvSpPr>
        <p:spPr>
          <a:xfrm>
            <a:off x="15440138" y="2622057"/>
            <a:ext cx="988655" cy="980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6B992F-1110-AE60-A248-171B0CD7FE6D}"/>
              </a:ext>
            </a:extLst>
          </p:cNvPr>
          <p:cNvSpPr/>
          <p:nvPr/>
        </p:nvSpPr>
        <p:spPr>
          <a:xfrm>
            <a:off x="12272397" y="2654715"/>
            <a:ext cx="988655" cy="980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50D1833-2F8A-21A8-4DCB-FDE06AA501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9886" y="2808514"/>
            <a:ext cx="718458" cy="71845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7AF05C0-BEBD-1F96-DA1A-F10B414BF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2142" y="2726872"/>
            <a:ext cx="914400" cy="9144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248CA8C-0544-716E-579B-366D5C1ED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446828" y="2743200"/>
            <a:ext cx="914400" cy="9144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6FA318-F013-B8E2-E6E7-F51024F29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79086" y="2743200"/>
            <a:ext cx="914400" cy="9144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F27AA6B-3FEE-14EE-0218-8B9B757A5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29800" y="2694214"/>
            <a:ext cx="914400" cy="914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DF36852-7585-BAFD-A2A3-C58634F4C57C}"/>
              </a:ext>
            </a:extLst>
          </p:cNvPr>
          <p:cNvSpPr txBox="1"/>
          <p:nvPr/>
        </p:nvSpPr>
        <p:spPr>
          <a:xfrm>
            <a:off x="3969526" y="4239068"/>
            <a:ext cx="25483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Sign Up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99B997-4FAC-E0D7-52A8-84616CC3294E}"/>
              </a:ext>
            </a:extLst>
          </p:cNvPr>
          <p:cNvSpPr txBox="1"/>
          <p:nvPr/>
        </p:nvSpPr>
        <p:spPr>
          <a:xfrm>
            <a:off x="7104612" y="4239068"/>
            <a:ext cx="25483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Explore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3FA3B1-B224-CD2E-C0A3-7D3F035278F0}"/>
              </a:ext>
            </a:extLst>
          </p:cNvPr>
          <p:cNvSpPr txBox="1"/>
          <p:nvPr/>
        </p:nvSpPr>
        <p:spPr>
          <a:xfrm>
            <a:off x="9651869" y="4239068"/>
            <a:ext cx="25483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Connect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D51EA5-193D-FF2A-4B4C-EF1F1A18DCF8}"/>
              </a:ext>
            </a:extLst>
          </p:cNvPr>
          <p:cNvSpPr txBox="1"/>
          <p:nvPr/>
        </p:nvSpPr>
        <p:spPr>
          <a:xfrm>
            <a:off x="12150140" y="4239068"/>
            <a:ext cx="25483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Collaborate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87877B-B4C1-ADBF-41A6-62EB915760E1}"/>
              </a:ext>
            </a:extLst>
          </p:cNvPr>
          <p:cNvSpPr txBox="1"/>
          <p:nvPr/>
        </p:nvSpPr>
        <p:spPr>
          <a:xfrm>
            <a:off x="14762711" y="4239067"/>
            <a:ext cx="32995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Grow &amp; Succeed</a:t>
            </a:r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E4E15-568D-F676-5F7F-B9A0378ACF08}"/>
              </a:ext>
            </a:extLst>
          </p:cNvPr>
          <p:cNvSpPr txBox="1"/>
          <p:nvPr/>
        </p:nvSpPr>
        <p:spPr>
          <a:xfrm>
            <a:off x="3397676" y="5366242"/>
            <a:ext cx="31119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Create your profile and tell us about your skills, interests and goals.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368B58-11D0-319B-55AC-9A9C8383B842}"/>
              </a:ext>
            </a:extLst>
          </p:cNvPr>
          <p:cNvSpPr txBox="1"/>
          <p:nvPr/>
        </p:nvSpPr>
        <p:spPr>
          <a:xfrm>
            <a:off x="6467447" y="5366242"/>
            <a:ext cx="311198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Discover projects, hackathons, events and people based on your interests.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8FE214-8176-5752-970D-DFFDD8F8E823}"/>
              </a:ext>
            </a:extLst>
          </p:cNvPr>
          <p:cNvSpPr txBox="1"/>
          <p:nvPr/>
        </p:nvSpPr>
        <p:spPr>
          <a:xfrm>
            <a:off x="9373933" y="5366242"/>
            <a:ext cx="311198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Find teammates, mentors and like-minded individuals and connect with them.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A859BC-4DD3-2AEC-E37D-F4488789F032}"/>
              </a:ext>
            </a:extLst>
          </p:cNvPr>
          <p:cNvSpPr txBox="1"/>
          <p:nvPr/>
        </p:nvSpPr>
        <p:spPr>
          <a:xfrm>
            <a:off x="12198775" y="5366242"/>
            <a:ext cx="3128310" cy="1585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Share ideas, build together and track your progress seamlessly.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128FF1-6809-35EF-4744-1D58918A54E1}"/>
              </a:ext>
            </a:extLst>
          </p:cNvPr>
          <p:cNvSpPr txBox="1"/>
          <p:nvPr/>
        </p:nvSpPr>
        <p:spPr>
          <a:xfrm>
            <a:off x="14941975" y="5366241"/>
            <a:ext cx="311198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Learn, grow your network and achieve your goals together.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868411"/>
            <a:ext cx="3091342" cy="241858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45550" y="187286"/>
            <a:ext cx="11210925" cy="1694171"/>
          </a:xfrm>
          <a:prstGeom prst="rect">
            <a:avLst/>
          </a:prstGeom>
        </p:spPr>
        <p:txBody>
          <a:bodyPr vert="horz" wrap="square" lIns="0" tIns="151095" rIns="0" bIns="0" rtlCol="0">
            <a:spAutoFit/>
          </a:bodyPr>
          <a:lstStyle/>
          <a:p>
            <a:pPr marL="1946275">
              <a:lnSpc>
                <a:spcPct val="100000"/>
              </a:lnSpc>
              <a:spcBef>
                <a:spcPts val="110"/>
              </a:spcBef>
            </a:pPr>
            <a:r>
              <a:rPr lang="en-US" sz="5850" spc="175" dirty="0"/>
              <a:t>The</a:t>
            </a:r>
            <a:r>
              <a:rPr lang="en-US" sz="5850" spc="-55" dirty="0"/>
              <a:t> </a:t>
            </a:r>
            <a:r>
              <a:rPr lang="en-US" sz="5850" spc="155" dirty="0"/>
              <a:t>Core</a:t>
            </a:r>
            <a:r>
              <a:rPr lang="en-US" sz="5850" spc="-55" dirty="0"/>
              <a:t> </a:t>
            </a:r>
            <a:r>
              <a:rPr lang="en-US" sz="5850" spc="120" dirty="0"/>
              <a:t>Features</a:t>
            </a:r>
            <a:endParaRPr lang="en-US" sz="58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988052" y="7868442"/>
            <a:ext cx="3300124" cy="2418643"/>
            <a:chOff x="14988052" y="7868442"/>
            <a:chExt cx="3300124" cy="2418643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88052" y="7868442"/>
              <a:ext cx="3299947" cy="24185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455057" y="9453966"/>
              <a:ext cx="833119" cy="833119"/>
            </a:xfrm>
            <a:custGeom>
              <a:avLst/>
              <a:gdLst/>
              <a:ahLst/>
              <a:cxnLst/>
              <a:rect l="l" t="t" r="r" b="b"/>
              <a:pathLst>
                <a:path w="833119" h="833120">
                  <a:moveTo>
                    <a:pt x="806635" y="806635"/>
                  </a:moveTo>
                  <a:lnTo>
                    <a:pt x="777434" y="833033"/>
                  </a:lnTo>
                  <a:lnTo>
                    <a:pt x="167597" y="833033"/>
                  </a:lnTo>
                  <a:lnTo>
                    <a:pt x="138394" y="806638"/>
                  </a:lnTo>
                  <a:lnTo>
                    <a:pt x="105958" y="770751"/>
                  </a:lnTo>
                  <a:lnTo>
                    <a:pt x="77846" y="732513"/>
                  </a:lnTo>
                  <a:lnTo>
                    <a:pt x="54060" y="692260"/>
                  </a:lnTo>
                  <a:lnTo>
                    <a:pt x="34598" y="650326"/>
                  </a:lnTo>
                  <a:lnTo>
                    <a:pt x="19461" y="607050"/>
                  </a:lnTo>
                  <a:lnTo>
                    <a:pt x="8649" y="562765"/>
                  </a:lnTo>
                  <a:lnTo>
                    <a:pt x="2162" y="517808"/>
                  </a:lnTo>
                  <a:lnTo>
                    <a:pt x="0" y="472516"/>
                  </a:lnTo>
                  <a:lnTo>
                    <a:pt x="2162" y="427223"/>
                  </a:lnTo>
                  <a:lnTo>
                    <a:pt x="8649" y="382267"/>
                  </a:lnTo>
                  <a:lnTo>
                    <a:pt x="19461" y="337982"/>
                  </a:lnTo>
                  <a:lnTo>
                    <a:pt x="34598" y="294705"/>
                  </a:lnTo>
                  <a:lnTo>
                    <a:pt x="54060" y="252772"/>
                  </a:lnTo>
                  <a:lnTo>
                    <a:pt x="77846" y="212518"/>
                  </a:lnTo>
                  <a:lnTo>
                    <a:pt x="105958" y="174280"/>
                  </a:lnTo>
                  <a:lnTo>
                    <a:pt x="138391" y="138391"/>
                  </a:lnTo>
                  <a:lnTo>
                    <a:pt x="174280" y="105958"/>
                  </a:lnTo>
                  <a:lnTo>
                    <a:pt x="212518" y="77846"/>
                  </a:lnTo>
                  <a:lnTo>
                    <a:pt x="252772" y="54060"/>
                  </a:lnTo>
                  <a:lnTo>
                    <a:pt x="294705" y="34598"/>
                  </a:lnTo>
                  <a:lnTo>
                    <a:pt x="337982" y="19461"/>
                  </a:lnTo>
                  <a:lnTo>
                    <a:pt x="382267" y="8649"/>
                  </a:lnTo>
                  <a:lnTo>
                    <a:pt x="427223" y="2162"/>
                  </a:lnTo>
                  <a:lnTo>
                    <a:pt x="472516" y="0"/>
                  </a:lnTo>
                  <a:lnTo>
                    <a:pt x="517808" y="2162"/>
                  </a:lnTo>
                  <a:lnTo>
                    <a:pt x="562765" y="8649"/>
                  </a:lnTo>
                  <a:lnTo>
                    <a:pt x="607050" y="19461"/>
                  </a:lnTo>
                  <a:lnTo>
                    <a:pt x="650326" y="34598"/>
                  </a:lnTo>
                  <a:lnTo>
                    <a:pt x="692260" y="54060"/>
                  </a:lnTo>
                  <a:lnTo>
                    <a:pt x="732513" y="77846"/>
                  </a:lnTo>
                  <a:lnTo>
                    <a:pt x="770751" y="105958"/>
                  </a:lnTo>
                  <a:lnTo>
                    <a:pt x="806638" y="138394"/>
                  </a:lnTo>
                  <a:lnTo>
                    <a:pt x="832942" y="167497"/>
                  </a:lnTo>
                  <a:lnTo>
                    <a:pt x="832942" y="777535"/>
                  </a:lnTo>
                  <a:lnTo>
                    <a:pt x="806635" y="806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4D8654A-2EA5-4102-075B-DDF2E817E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" y="4082"/>
            <a:ext cx="18297524" cy="10295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3573" y="7502103"/>
            <a:ext cx="3074425" cy="27848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95165"/>
            <a:ext cx="1787697" cy="37918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598618" y="1721030"/>
            <a:ext cx="3478529" cy="406400"/>
          </a:xfrm>
          <a:custGeom>
            <a:avLst/>
            <a:gdLst/>
            <a:ahLst/>
            <a:cxnLst/>
            <a:rect l="l" t="t" r="r" b="b"/>
            <a:pathLst>
              <a:path w="3478529" h="406400">
                <a:moveTo>
                  <a:pt x="3454028" y="406296"/>
                </a:moveTo>
                <a:lnTo>
                  <a:pt x="24377" y="406296"/>
                </a:lnTo>
                <a:lnTo>
                  <a:pt x="14888" y="404380"/>
                </a:lnTo>
                <a:lnTo>
                  <a:pt x="7140" y="399156"/>
                </a:lnTo>
                <a:lnTo>
                  <a:pt x="1915" y="391407"/>
                </a:lnTo>
                <a:lnTo>
                  <a:pt x="0" y="381918"/>
                </a:lnTo>
                <a:lnTo>
                  <a:pt x="0" y="24377"/>
                </a:lnTo>
                <a:lnTo>
                  <a:pt x="1915" y="14888"/>
                </a:lnTo>
                <a:lnTo>
                  <a:pt x="7140" y="7140"/>
                </a:lnTo>
                <a:lnTo>
                  <a:pt x="14888" y="1915"/>
                </a:lnTo>
                <a:lnTo>
                  <a:pt x="24377" y="0"/>
                </a:lnTo>
                <a:lnTo>
                  <a:pt x="3454028" y="0"/>
                </a:lnTo>
                <a:lnTo>
                  <a:pt x="3463518" y="1915"/>
                </a:lnTo>
                <a:lnTo>
                  <a:pt x="3471267" y="7140"/>
                </a:lnTo>
                <a:lnTo>
                  <a:pt x="3476491" y="14888"/>
                </a:lnTo>
                <a:lnTo>
                  <a:pt x="3478407" y="24377"/>
                </a:lnTo>
                <a:lnTo>
                  <a:pt x="3478407" y="381918"/>
                </a:lnTo>
                <a:lnTo>
                  <a:pt x="3476491" y="391407"/>
                </a:lnTo>
                <a:lnTo>
                  <a:pt x="3471267" y="399156"/>
                </a:lnTo>
                <a:lnTo>
                  <a:pt x="3463518" y="404380"/>
                </a:lnTo>
                <a:lnTo>
                  <a:pt x="3454028" y="4062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874054" y="987615"/>
            <a:ext cx="7461250" cy="1085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950" spc="105" dirty="0"/>
              <a:t>Technical</a:t>
            </a:r>
            <a:r>
              <a:rPr sz="4950" spc="-15" dirty="0"/>
              <a:t> </a:t>
            </a:r>
            <a:r>
              <a:rPr sz="4950" spc="130" dirty="0"/>
              <a:t>Architecture</a:t>
            </a:r>
            <a:endParaRPr sz="4950"/>
          </a:p>
          <a:p>
            <a:pPr marR="525145" algn="ctr">
              <a:lnSpc>
                <a:spcPct val="100000"/>
              </a:lnSpc>
              <a:spcBef>
                <a:spcPts val="70"/>
              </a:spcBef>
            </a:pPr>
            <a:r>
              <a:rPr sz="1950" spc="55" dirty="0">
                <a:solidFill>
                  <a:srgbClr val="051D53"/>
                </a:solidFill>
              </a:rPr>
              <a:t>System</a:t>
            </a:r>
            <a:r>
              <a:rPr sz="1950" spc="5" dirty="0">
                <a:solidFill>
                  <a:srgbClr val="051D53"/>
                </a:solidFill>
              </a:rPr>
              <a:t> </a:t>
            </a:r>
            <a:r>
              <a:rPr sz="1950" spc="80" dirty="0">
                <a:solidFill>
                  <a:srgbClr val="051D53"/>
                </a:solidFill>
              </a:rPr>
              <a:t>Design</a:t>
            </a:r>
            <a:r>
              <a:rPr sz="1950" spc="10" dirty="0">
                <a:solidFill>
                  <a:srgbClr val="051D53"/>
                </a:solidFill>
              </a:rPr>
              <a:t> </a:t>
            </a:r>
            <a:r>
              <a:rPr sz="1950" spc="50" dirty="0">
                <a:solidFill>
                  <a:srgbClr val="051D53"/>
                </a:solidFill>
              </a:rPr>
              <a:t>Overview</a:t>
            </a:r>
            <a:endParaRPr sz="195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C02EFA-09D3-056A-8DF3-71CDEFE39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" y="-23813"/>
            <a:ext cx="18309771" cy="10334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3281" y="2270607"/>
            <a:ext cx="1694727" cy="42481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560399"/>
            <a:ext cx="2367232" cy="172660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65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60" dirty="0"/>
              <a:t>What</a:t>
            </a:r>
            <a:r>
              <a:rPr spc="-70" dirty="0"/>
              <a:t> </a:t>
            </a:r>
            <a:r>
              <a:rPr spc="210" dirty="0"/>
              <a:t>Makes</a:t>
            </a:r>
            <a:r>
              <a:rPr spc="-70" dirty="0"/>
              <a:t> </a:t>
            </a:r>
            <a:r>
              <a:rPr spc="-505" dirty="0"/>
              <a:t>It</a:t>
            </a:r>
            <a:r>
              <a:rPr spc="-65" dirty="0"/>
              <a:t> </a:t>
            </a:r>
            <a:r>
              <a:rPr spc="135" dirty="0"/>
              <a:t>Different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117C9-9772-4B24-8A8B-58A2B911D2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9" y="0"/>
            <a:ext cx="1825534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91532"/>
            <a:ext cx="3662537" cy="32954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02818" y="2714774"/>
            <a:ext cx="2385181" cy="6276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284" rIns="0" bIns="0" rtlCol="0">
            <a:spAutoFit/>
          </a:bodyPr>
          <a:lstStyle/>
          <a:p>
            <a:pPr marL="3378835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Impact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17D0A-822D-A4C4-8BBA-66690897B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2272" y="0"/>
            <a:ext cx="1895747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30376" y="1396166"/>
            <a:ext cx="4157623" cy="44481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5751" y="2855250"/>
            <a:ext cx="945515" cy="945515"/>
          </a:xfrm>
          <a:custGeom>
            <a:avLst/>
            <a:gdLst/>
            <a:ahLst/>
            <a:cxnLst/>
            <a:rect l="l" t="t" r="r" b="b"/>
            <a:pathLst>
              <a:path w="945515" h="945514">
                <a:moveTo>
                  <a:pt x="806638" y="806643"/>
                </a:moveTo>
                <a:lnTo>
                  <a:pt x="770754" y="839082"/>
                </a:lnTo>
                <a:lnTo>
                  <a:pt x="732516" y="867193"/>
                </a:lnTo>
                <a:lnTo>
                  <a:pt x="692262" y="890980"/>
                </a:lnTo>
                <a:lnTo>
                  <a:pt x="650329" y="910442"/>
                </a:lnTo>
                <a:lnTo>
                  <a:pt x="607053" y="925578"/>
                </a:lnTo>
                <a:lnTo>
                  <a:pt x="562768" y="936391"/>
                </a:lnTo>
                <a:lnTo>
                  <a:pt x="517812" y="942878"/>
                </a:lnTo>
                <a:lnTo>
                  <a:pt x="472520" y="945040"/>
                </a:lnTo>
                <a:lnTo>
                  <a:pt x="427228" y="942878"/>
                </a:lnTo>
                <a:lnTo>
                  <a:pt x="382272" y="936391"/>
                </a:lnTo>
                <a:lnTo>
                  <a:pt x="337987" y="925578"/>
                </a:lnTo>
                <a:lnTo>
                  <a:pt x="294710" y="910442"/>
                </a:lnTo>
                <a:lnTo>
                  <a:pt x="252777" y="890980"/>
                </a:lnTo>
                <a:lnTo>
                  <a:pt x="212523" y="867193"/>
                </a:lnTo>
                <a:lnTo>
                  <a:pt x="174285" y="839082"/>
                </a:lnTo>
                <a:lnTo>
                  <a:pt x="138400" y="806643"/>
                </a:lnTo>
                <a:lnTo>
                  <a:pt x="105960" y="770759"/>
                </a:lnTo>
                <a:lnTo>
                  <a:pt x="77848" y="732522"/>
                </a:lnTo>
                <a:lnTo>
                  <a:pt x="54061" y="692268"/>
                </a:lnTo>
                <a:lnTo>
                  <a:pt x="34599" y="650335"/>
                </a:lnTo>
                <a:lnTo>
                  <a:pt x="19462" y="607058"/>
                </a:lnTo>
                <a:lnTo>
                  <a:pt x="8649" y="562773"/>
                </a:lnTo>
                <a:lnTo>
                  <a:pt x="2162" y="517816"/>
                </a:lnTo>
                <a:lnTo>
                  <a:pt x="0" y="472523"/>
                </a:lnTo>
                <a:lnTo>
                  <a:pt x="2162" y="427230"/>
                </a:lnTo>
                <a:lnTo>
                  <a:pt x="8649" y="382273"/>
                </a:lnTo>
                <a:lnTo>
                  <a:pt x="19462" y="337988"/>
                </a:lnTo>
                <a:lnTo>
                  <a:pt x="34599" y="294711"/>
                </a:lnTo>
                <a:lnTo>
                  <a:pt x="54061" y="252777"/>
                </a:lnTo>
                <a:lnTo>
                  <a:pt x="77848" y="212522"/>
                </a:lnTo>
                <a:lnTo>
                  <a:pt x="105960" y="174284"/>
                </a:lnTo>
                <a:lnTo>
                  <a:pt x="138397" y="138396"/>
                </a:lnTo>
                <a:lnTo>
                  <a:pt x="174285" y="105959"/>
                </a:lnTo>
                <a:lnTo>
                  <a:pt x="212523" y="77848"/>
                </a:lnTo>
                <a:lnTo>
                  <a:pt x="252777" y="54061"/>
                </a:lnTo>
                <a:lnTo>
                  <a:pt x="294710" y="34599"/>
                </a:lnTo>
                <a:lnTo>
                  <a:pt x="337987" y="19462"/>
                </a:lnTo>
                <a:lnTo>
                  <a:pt x="382272" y="8649"/>
                </a:lnTo>
                <a:lnTo>
                  <a:pt x="427228" y="2162"/>
                </a:lnTo>
                <a:lnTo>
                  <a:pt x="472520" y="0"/>
                </a:lnTo>
                <a:lnTo>
                  <a:pt x="517812" y="2162"/>
                </a:lnTo>
                <a:lnTo>
                  <a:pt x="562768" y="8649"/>
                </a:lnTo>
                <a:lnTo>
                  <a:pt x="607053" y="19462"/>
                </a:lnTo>
                <a:lnTo>
                  <a:pt x="650329" y="34599"/>
                </a:lnTo>
                <a:lnTo>
                  <a:pt x="692262" y="54061"/>
                </a:lnTo>
                <a:lnTo>
                  <a:pt x="732516" y="77848"/>
                </a:lnTo>
                <a:lnTo>
                  <a:pt x="770754" y="105959"/>
                </a:lnTo>
                <a:lnTo>
                  <a:pt x="806641" y="138396"/>
                </a:lnTo>
                <a:lnTo>
                  <a:pt x="839078" y="174284"/>
                </a:lnTo>
                <a:lnTo>
                  <a:pt x="867190" y="212522"/>
                </a:lnTo>
                <a:lnTo>
                  <a:pt x="890978" y="252777"/>
                </a:lnTo>
                <a:lnTo>
                  <a:pt x="910440" y="294711"/>
                </a:lnTo>
                <a:lnTo>
                  <a:pt x="925577" y="337988"/>
                </a:lnTo>
                <a:lnTo>
                  <a:pt x="936390" y="382273"/>
                </a:lnTo>
                <a:lnTo>
                  <a:pt x="942877" y="427230"/>
                </a:lnTo>
                <a:lnTo>
                  <a:pt x="945040" y="472523"/>
                </a:lnTo>
                <a:lnTo>
                  <a:pt x="942877" y="517816"/>
                </a:lnTo>
                <a:lnTo>
                  <a:pt x="936390" y="562773"/>
                </a:lnTo>
                <a:lnTo>
                  <a:pt x="925577" y="607058"/>
                </a:lnTo>
                <a:lnTo>
                  <a:pt x="910440" y="650335"/>
                </a:lnTo>
                <a:lnTo>
                  <a:pt x="890978" y="692268"/>
                </a:lnTo>
                <a:lnTo>
                  <a:pt x="867190" y="732522"/>
                </a:lnTo>
                <a:lnTo>
                  <a:pt x="839078" y="770759"/>
                </a:lnTo>
                <a:lnTo>
                  <a:pt x="806638" y="806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049779"/>
            <a:ext cx="4248454" cy="323721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4671" rIns="0" bIns="0" rtlCol="0">
            <a:spAutoFit/>
          </a:bodyPr>
          <a:lstStyle/>
          <a:p>
            <a:pPr marL="1410970">
              <a:lnSpc>
                <a:spcPct val="100000"/>
              </a:lnSpc>
              <a:spcBef>
                <a:spcPts val="95"/>
              </a:spcBef>
            </a:pPr>
            <a:r>
              <a:rPr spc="270" dirty="0"/>
              <a:t>Product</a:t>
            </a:r>
            <a:r>
              <a:rPr spc="-65" dirty="0"/>
              <a:t> </a:t>
            </a:r>
            <a:r>
              <a:rPr spc="260" dirty="0"/>
              <a:t>Roadmap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490" y="191584"/>
            <a:ext cx="1204569" cy="12045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38414" y="191584"/>
            <a:ext cx="3811645" cy="126889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455057" y="9453966"/>
            <a:ext cx="833119" cy="833119"/>
          </a:xfrm>
          <a:custGeom>
            <a:avLst/>
            <a:gdLst/>
            <a:ahLst/>
            <a:cxnLst/>
            <a:rect l="l" t="t" r="r" b="b"/>
            <a:pathLst>
              <a:path w="833119" h="833120">
                <a:moveTo>
                  <a:pt x="806635" y="806635"/>
                </a:moveTo>
                <a:lnTo>
                  <a:pt x="777434" y="833033"/>
                </a:lnTo>
                <a:lnTo>
                  <a:pt x="167597" y="833033"/>
                </a:lnTo>
                <a:lnTo>
                  <a:pt x="138394" y="806638"/>
                </a:lnTo>
                <a:lnTo>
                  <a:pt x="105958" y="770751"/>
                </a:lnTo>
                <a:lnTo>
                  <a:pt x="77846" y="732513"/>
                </a:lnTo>
                <a:lnTo>
                  <a:pt x="54060" y="692260"/>
                </a:lnTo>
                <a:lnTo>
                  <a:pt x="34598" y="650326"/>
                </a:lnTo>
                <a:lnTo>
                  <a:pt x="19461" y="607050"/>
                </a:lnTo>
                <a:lnTo>
                  <a:pt x="8649" y="562765"/>
                </a:lnTo>
                <a:lnTo>
                  <a:pt x="2162" y="517808"/>
                </a:lnTo>
                <a:lnTo>
                  <a:pt x="0" y="472516"/>
                </a:lnTo>
                <a:lnTo>
                  <a:pt x="2162" y="427223"/>
                </a:lnTo>
                <a:lnTo>
                  <a:pt x="8649" y="382267"/>
                </a:lnTo>
                <a:lnTo>
                  <a:pt x="19461" y="337982"/>
                </a:lnTo>
                <a:lnTo>
                  <a:pt x="34598" y="294705"/>
                </a:lnTo>
                <a:lnTo>
                  <a:pt x="54060" y="252772"/>
                </a:lnTo>
                <a:lnTo>
                  <a:pt x="77846" y="212518"/>
                </a:lnTo>
                <a:lnTo>
                  <a:pt x="105958" y="174280"/>
                </a:lnTo>
                <a:lnTo>
                  <a:pt x="138391" y="138391"/>
                </a:lnTo>
                <a:lnTo>
                  <a:pt x="174280" y="105958"/>
                </a:lnTo>
                <a:lnTo>
                  <a:pt x="212518" y="77846"/>
                </a:lnTo>
                <a:lnTo>
                  <a:pt x="252772" y="54060"/>
                </a:lnTo>
                <a:lnTo>
                  <a:pt x="294705" y="34598"/>
                </a:lnTo>
                <a:lnTo>
                  <a:pt x="337982" y="19461"/>
                </a:lnTo>
                <a:lnTo>
                  <a:pt x="382267" y="8649"/>
                </a:lnTo>
                <a:lnTo>
                  <a:pt x="427223" y="2162"/>
                </a:lnTo>
                <a:lnTo>
                  <a:pt x="472516" y="0"/>
                </a:lnTo>
                <a:lnTo>
                  <a:pt x="517808" y="2162"/>
                </a:lnTo>
                <a:lnTo>
                  <a:pt x="562765" y="8649"/>
                </a:lnTo>
                <a:lnTo>
                  <a:pt x="607050" y="19461"/>
                </a:lnTo>
                <a:lnTo>
                  <a:pt x="650326" y="34598"/>
                </a:lnTo>
                <a:lnTo>
                  <a:pt x="692260" y="54060"/>
                </a:lnTo>
                <a:lnTo>
                  <a:pt x="732513" y="77846"/>
                </a:lnTo>
                <a:lnTo>
                  <a:pt x="770751" y="105958"/>
                </a:lnTo>
                <a:lnTo>
                  <a:pt x="806638" y="138394"/>
                </a:lnTo>
                <a:lnTo>
                  <a:pt x="832942" y="167497"/>
                </a:lnTo>
                <a:lnTo>
                  <a:pt x="832942" y="777535"/>
                </a:lnTo>
                <a:lnTo>
                  <a:pt x="806635" y="80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0AF6E6-4192-0EF6-B660-58605D615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" y="-7485"/>
            <a:ext cx="18260785" cy="10285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20239"/>
            <a:ext cx="3314456" cy="36267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62804"/>
            <a:ext cx="18288000" cy="10024745"/>
            <a:chOff x="0" y="262804"/>
            <a:chExt cx="18288000" cy="100247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3803" y="7541422"/>
              <a:ext cx="4019549" cy="27455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95621" y="1744370"/>
              <a:ext cx="3092378" cy="85426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48996" y="262804"/>
              <a:ext cx="5929426" cy="19739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8465910"/>
              <a:ext cx="2196826" cy="18192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9957" y="7999688"/>
              <a:ext cx="5867396" cy="22873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4908" y="7755392"/>
              <a:ext cx="4124309" cy="25316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20921" y="7461503"/>
              <a:ext cx="3495689" cy="2825505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091103" y="2364616"/>
            <a:ext cx="5626735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THANK</a:t>
            </a:r>
            <a:r>
              <a:rPr spc="-65" dirty="0"/>
              <a:t> </a:t>
            </a:r>
            <a:r>
              <a:rPr spc="165" dirty="0"/>
              <a:t>YOU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0" y="217447"/>
            <a:ext cx="2552700" cy="6105525"/>
            <a:chOff x="0" y="217447"/>
            <a:chExt cx="2552700" cy="6105525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0354" y="217447"/>
              <a:ext cx="2019268" cy="201926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2236713"/>
              <a:ext cx="2552471" cy="40862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ALEROPATH CONNECT The Community Engine</vt:lpstr>
      <vt:lpstr>The Problem</vt:lpstr>
      <vt:lpstr>Our Vision</vt:lpstr>
      <vt:lpstr>The Solution A Unified Digital Community Ecosystem</vt:lpstr>
      <vt:lpstr>How It Works</vt:lpstr>
      <vt:lpstr>The Core Features</vt:lpstr>
      <vt:lpstr>Technical Architecture System Design Overview</vt:lpstr>
      <vt:lpstr>What Makes It Different</vt:lpstr>
      <vt:lpstr>Impact</vt:lpstr>
      <vt:lpstr>Product Roadmap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ALEROPATH-CONNECT_PPT-TEMP</dc:title>
  <dc:creator>ALEROPATH OFFICIAL</dc:creator>
  <cp:keywords>DAHSwLZnZDA,BAHNVANIZHQ</cp:keywords>
  <cp:revision>608</cp:revision>
  <dcterms:created xsi:type="dcterms:W3CDTF">2026-08-28T06:30:52Z</dcterms:created>
  <dcterms:modified xsi:type="dcterms:W3CDTF">2026-08-28T14:04:18Z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2026-08-19T00:00:00Z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2026-08-28T00:00:00Z</vt:filetime>
  </property>
  <property fmtid="{D5CDD505-2E9C-101B-9397-08002B2CF9AE}" pid="6" name="Producer">
    <vt:lpwstr>iLovePDF</vt:lpwstr>
  </property>
  <property fmtid="{D5CDD505-2E9C-101B-9397-08002B2CF9AE}" pid="7" name="containsAiGeneratedContent">
    <vt:lpwstr>Yes</vt:lpwstr>
  </property>
</Properties>
</file>